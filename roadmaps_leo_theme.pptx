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7" r:id="rId4"/>
  </p:sldMasterIdLst>
  <p:notesMasterIdLst>
    <p:notesMasterId r:id="rId5"/>
  </p:notesMasterIdLst>
  <p:sldIdLst>
    <p:sldId id="256" r:id="rId10"/>
    <p:sldId id="257" r:id="rId11"/>
    <p:sldId id="258" r:id="rId12"/>
    <p:sldId id="259" r:id="rId13"/>
    <p:sldId id="260" r:id="rId14"/>
    <p:sldId id="261" r:id="rId15"/>
    <p:sldId id="262" r:id="rId16"/>
    <p:sldId id="263" r:id="rId17"/>
    <p:sldId id="264" r:id="rId18"/>
  </p:sldIdLst>
  <p:sldSz cx="12191695"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2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6" d="100"/>
          <a:sy n="76" d="100"/>
        </p:scale>
        <p:origin x="228" y="-1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E87678-5C8F-4F05-9155-82A95E79308B}" type="datetimeFigureOut">
              <a:rPr lang="it-IT" smtClean="0"/>
              <a:t>06/10/2026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04698F-3707-49F3-97F8-68C7A6686C37}" type="slidenum">
              <a:rPr lang="it-IT" smtClean="0"/>
              <a:t>‹Nr.›</a:t>
            </a:fld>
            <a:endParaRPr lang="it-IT"/>
          </a:p>
        </p:txBody>
      </p:sp>
    </p:spTree>
    <p:extLst>
      <p:ext uri="{BB962C8B-B14F-4D97-AF65-F5344CB8AC3E}">
        <p14:creationId xmlns:p14="http://schemas.microsoft.com/office/powerpoint/2010/main" val="3448753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elfoli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C7CA67-F47A-BCA5-AB72-EC8679D12B16}"/>
              </a:ext>
            </a:extLst>
          </p:cNvPr>
          <p:cNvSpPr>
            <a:spLocks noGrp="1"/>
          </p:cNvSpPr>
          <p:nvPr>
            <p:ph type="ctrTitle" hasCustomPrompt="1"/>
          </p:nvPr>
        </p:nvSpPr>
        <p:spPr>
          <a:xfrm>
            <a:off x="1524000" y="1122362"/>
            <a:ext cx="9144000" cy="1782693"/>
          </a:xfrm>
        </p:spPr>
        <p:txBody>
          <a:bodyPr anchor="ctr">
            <a:normAutofit/>
          </a:bodyPr>
          <a:lstStyle>
            <a:lvl1pPr algn="ctr">
              <a:defRPr sz="3280" b="1">
                <a:solidFill>
                  <a:srgbClr val="0052A0"/>
                </a:solidFill>
                <a:latin typeface="MetaBold Roman"/>
              </a:defRPr>
            </a:lvl1pPr>
          </a:lstStyle>
          <a:p>
            <a:r>
              <a:rPr lang="en-US" noProof="0" dirty="0"/>
              <a:t>Presentation Title </a:t>
            </a:r>
          </a:p>
        </p:txBody>
      </p:sp>
      <p:sp>
        <p:nvSpPr>
          <p:cNvPr id="3" name="Sottotitolo 2">
            <a:extLst>
              <a:ext uri="{FF2B5EF4-FFF2-40B4-BE49-F238E27FC236}">
                <a16:creationId xmlns:a16="http://schemas.microsoft.com/office/drawing/2014/main" id="{F23064B0-1606-EC11-6585-E7C173E6349B}"/>
              </a:ext>
            </a:extLst>
          </p:cNvPr>
          <p:cNvSpPr>
            <a:spLocks noGrp="1"/>
          </p:cNvSpPr>
          <p:nvPr>
            <p:ph type="subTitle" idx="1" hasCustomPrompt="1"/>
          </p:nvPr>
        </p:nvSpPr>
        <p:spPr>
          <a:xfrm>
            <a:off x="1524000" y="3265162"/>
            <a:ext cx="9144000" cy="614960"/>
          </a:xfrm>
        </p:spPr>
        <p:txBody>
          <a:bodyPr>
            <a:normAutofit/>
          </a:bodyPr>
          <a:lstStyle>
            <a:lvl1pPr marL="0" indent="0" algn="ctr">
              <a:buNone/>
              <a:defRPr sz="2400">
                <a:latin typeface="MetaBold Roman"/>
                <a:cs typeface="Lucida Sans Unicode" panose="020B06020305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dirty="0"/>
              <a:t>Professor</a:t>
            </a:r>
          </a:p>
        </p:txBody>
      </p:sp>
      <p:pic>
        <p:nvPicPr>
          <p:cNvPr id="8" name="Immagine 7">
            <a:extLst>
              <a:ext uri="{FF2B5EF4-FFF2-40B4-BE49-F238E27FC236}">
                <a16:creationId xmlns:a16="http://schemas.microsoft.com/office/drawing/2014/main" id="{E2446C30-6856-B92C-E158-9E75FA65F7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951077"/>
          </a:xfrm>
          <a:prstGeom prst="rect">
            <a:avLst/>
          </a:prstGeom>
        </p:spPr>
      </p:pic>
      <p:sp>
        <p:nvSpPr>
          <p:cNvPr id="11" name="Segnaposto testo 10">
            <a:extLst>
              <a:ext uri="{FF2B5EF4-FFF2-40B4-BE49-F238E27FC236}">
                <a16:creationId xmlns:a16="http://schemas.microsoft.com/office/drawing/2014/main" id="{913AE496-DAB0-C15F-1D86-336C403A7335}"/>
              </a:ext>
            </a:extLst>
          </p:cNvPr>
          <p:cNvSpPr>
            <a:spLocks noGrp="1"/>
          </p:cNvSpPr>
          <p:nvPr>
            <p:ph type="body" sz="quarter" idx="10" hasCustomPrompt="1"/>
          </p:nvPr>
        </p:nvSpPr>
        <p:spPr>
          <a:xfrm>
            <a:off x="1524000" y="4240228"/>
            <a:ext cx="9144000" cy="1069675"/>
          </a:xfrm>
        </p:spPr>
        <p:txBody>
          <a:bodyPr anchor="ctr" anchorCtr="1">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2000" kern="1200" spc="-116" dirty="0" smtClean="0">
                <a:solidFill>
                  <a:srgbClr val="787878"/>
                </a:solidFill>
                <a:latin typeface="MetaBold Roman"/>
                <a:ea typeface="+mn-ea"/>
                <a:cs typeface="Lucida Sans Unicode"/>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University of Würzburg </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noProof="0" dirty="0"/>
              <a:t>Summer 2025</a:t>
            </a:r>
          </a:p>
        </p:txBody>
      </p:sp>
      <p:sp>
        <p:nvSpPr>
          <p:cNvPr id="12" name="Segnaposto data 11">
            <a:extLst>
              <a:ext uri="{FF2B5EF4-FFF2-40B4-BE49-F238E27FC236}">
                <a16:creationId xmlns:a16="http://schemas.microsoft.com/office/drawing/2014/main" id="{193F4F7E-DAB6-EC68-5E6B-DED62F1F87AC}"/>
              </a:ext>
            </a:extLst>
          </p:cNvPr>
          <p:cNvSpPr>
            <a:spLocks noGrp="1"/>
          </p:cNvSpPr>
          <p:nvPr>
            <p:ph type="dt" sz="half" idx="11"/>
          </p:nvPr>
        </p:nvSpPr>
        <p:spPr>
          <a:xfrm>
            <a:off x="838200" y="6476660"/>
            <a:ext cx="2743200" cy="365125"/>
          </a:xfrm>
        </p:spPr>
        <p:txBody>
          <a:bodyPr/>
          <a:lstStyle/>
          <a:p>
            <a:fld id="{A3E4BD65-8E27-4AF8-9B00-7536DD872A88}" type="datetime1">
              <a:rPr lang="en-US" noProof="0" smtClean="0"/>
              <a:t>10/6/2026</a:t>
            </a:fld>
            <a:endParaRPr lang="en-US" noProof="0" dirty="0"/>
          </a:p>
        </p:txBody>
      </p:sp>
      <p:sp>
        <p:nvSpPr>
          <p:cNvPr id="13" name="Segnaposto piè di pagina 12">
            <a:extLst>
              <a:ext uri="{FF2B5EF4-FFF2-40B4-BE49-F238E27FC236}">
                <a16:creationId xmlns:a16="http://schemas.microsoft.com/office/drawing/2014/main" id="{13238366-BC9C-B27C-958F-8FADB06F4060}"/>
              </a:ext>
            </a:extLst>
          </p:cNvPr>
          <p:cNvSpPr>
            <a:spLocks noGrp="1"/>
          </p:cNvSpPr>
          <p:nvPr>
            <p:ph type="ftr" sz="quarter" idx="12"/>
          </p:nvPr>
        </p:nvSpPr>
        <p:spPr>
          <a:xfrm>
            <a:off x="4038600" y="6476660"/>
            <a:ext cx="4114800" cy="365125"/>
          </a:xfrm>
        </p:spPr>
        <p:txBody>
          <a:bodyPr/>
          <a:lstStyle/>
          <a:p>
            <a:r>
              <a:rPr lang="en-US" noProof="0"/>
              <a:t>Footer</a:t>
            </a:r>
            <a:endParaRPr lang="en-US" noProof="0" dirty="0"/>
          </a:p>
        </p:txBody>
      </p:sp>
      <p:sp>
        <p:nvSpPr>
          <p:cNvPr id="14" name="Segnaposto numero diapositiva 13">
            <a:extLst>
              <a:ext uri="{FF2B5EF4-FFF2-40B4-BE49-F238E27FC236}">
                <a16:creationId xmlns:a16="http://schemas.microsoft.com/office/drawing/2014/main" id="{C8CA4EE7-EBED-7CCD-9D29-0767550A01D5}"/>
              </a:ext>
            </a:extLst>
          </p:cNvPr>
          <p:cNvSpPr>
            <a:spLocks noGrp="1"/>
          </p:cNvSpPr>
          <p:nvPr>
            <p:ph type="sldNum" sz="quarter" idx="13"/>
          </p:nvPr>
        </p:nvSpPr>
        <p:spPr>
          <a:xfrm>
            <a:off x="8610600" y="6476660"/>
            <a:ext cx="2743200" cy="365125"/>
          </a:xfrm>
        </p:spPr>
        <p:txBody>
          <a:bodyPr/>
          <a:lstStyle/>
          <a:p>
            <a:fld id="{1FF0BA41-2116-4003-BC76-AB2EA894D397}" type="slidenum">
              <a:rPr lang="en-US" noProof="0" smtClean="0"/>
              <a:t>‹Nr.›</a:t>
            </a:fld>
            <a:endParaRPr lang="en-US" noProof="0" dirty="0"/>
          </a:p>
        </p:txBody>
      </p:sp>
      <p:pic>
        <p:nvPicPr>
          <p:cNvPr id="4" name="Immagine 7">
            <a:extLst>
              <a:ext uri="{FF2B5EF4-FFF2-40B4-BE49-F238E27FC236}">
                <a16:creationId xmlns:a16="http://schemas.microsoft.com/office/drawing/2014/main" id="{5FC4B362-0EF3-E19A-CC04-15B9257E12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951077"/>
          </a:xfrm>
          <a:prstGeom prst="rect">
            <a:avLst/>
          </a:prstGeom>
        </p:spPr>
      </p:pic>
      <p:pic>
        <p:nvPicPr>
          <p:cNvPr id="5" name="Immagine 7">
            <a:extLst>
              <a:ext uri="{FF2B5EF4-FFF2-40B4-BE49-F238E27FC236}">
                <a16:creationId xmlns:a16="http://schemas.microsoft.com/office/drawing/2014/main" id="{BE695412-838F-A9A2-576C-8A53DF66ED4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951077"/>
          </a:xfrm>
          <a:prstGeom prst="rect">
            <a:avLst/>
          </a:prstGeom>
        </p:spPr>
      </p:pic>
    </p:spTree>
    <p:extLst>
      <p:ext uri="{BB962C8B-B14F-4D97-AF65-F5344CB8AC3E}">
        <p14:creationId xmlns:p14="http://schemas.microsoft.com/office/powerpoint/2010/main" val="18761326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 und Inhalt">
    <p:spTree>
      <p:nvGrpSpPr>
        <p:cNvPr id="1" name=""/>
        <p:cNvGrpSpPr/>
        <p:nvPr/>
      </p:nvGrpSpPr>
      <p:grpSpPr>
        <a:xfrm>
          <a:off x="0" y="0"/>
          <a:ext cx="0" cy="0"/>
          <a:chOff x="0" y="0"/>
          <a:chExt cx="0" cy="0"/>
        </a:xfrm>
      </p:grpSpPr>
      <p:pic>
        <p:nvPicPr>
          <p:cNvPr id="2" name="Immagine 7">
            <a:extLst>
              <a:ext uri="{FF2B5EF4-FFF2-40B4-BE49-F238E27FC236}">
                <a16:creationId xmlns:a16="http://schemas.microsoft.com/office/drawing/2014/main" id="{792579C6-0644-0C93-1D04-35AE4B76ED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V="1">
            <a:off x="0" y="6442544"/>
            <a:ext cx="12192000" cy="415455"/>
          </a:xfrm>
          <a:prstGeom prst="rect">
            <a:avLst/>
          </a:prstGeom>
        </p:spPr>
      </p:pic>
      <p:pic>
        <p:nvPicPr>
          <p:cNvPr id="9" name="Immagine 7">
            <a:extLst>
              <a:ext uri="{FF2B5EF4-FFF2-40B4-BE49-F238E27FC236}">
                <a16:creationId xmlns:a16="http://schemas.microsoft.com/office/drawing/2014/main" id="{28B254B4-95D2-C51B-6B46-9B139437AFF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V="1">
            <a:off x="0" y="6442544"/>
            <a:ext cx="12192000" cy="415455"/>
          </a:xfrm>
          <a:prstGeom prst="rect">
            <a:avLst/>
          </a:prstGeom>
        </p:spPr>
      </p:pic>
      <p:pic>
        <p:nvPicPr>
          <p:cNvPr id="8" name="Immagine 7">
            <a:extLst>
              <a:ext uri="{FF2B5EF4-FFF2-40B4-BE49-F238E27FC236}">
                <a16:creationId xmlns:a16="http://schemas.microsoft.com/office/drawing/2014/main" id="{2077703B-39B0-B9F4-3CB3-797A689DB9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V="1">
            <a:off x="0" y="6442544"/>
            <a:ext cx="12192000" cy="415455"/>
          </a:xfrm>
          <a:prstGeom prst="rect">
            <a:avLst/>
          </a:prstGeom>
        </p:spPr>
      </p:pic>
      <p:sp>
        <p:nvSpPr>
          <p:cNvPr id="3" name="Segnaposto contenuto 2">
            <a:extLst>
              <a:ext uri="{FF2B5EF4-FFF2-40B4-BE49-F238E27FC236}">
                <a16:creationId xmlns:a16="http://schemas.microsoft.com/office/drawing/2014/main" id="{3F9A8FE0-F9C6-86E0-DA44-90BCE2478FD0}"/>
              </a:ext>
            </a:extLst>
          </p:cNvPr>
          <p:cNvSpPr>
            <a:spLocks noGrp="1"/>
          </p:cNvSpPr>
          <p:nvPr>
            <p:ph idx="1" hasCustomPrompt="1"/>
          </p:nvPr>
        </p:nvSpPr>
        <p:spPr>
          <a:xfrm>
            <a:off x="838200" y="1249082"/>
            <a:ext cx="10515600" cy="4927881"/>
          </a:xfrm>
        </p:spPr>
        <p:txBody>
          <a:bodyPr>
            <a:normAutofit/>
          </a:bodyPr>
          <a:lstStyle>
            <a:lvl1pPr>
              <a:defRPr sz="2400">
                <a:latin typeface="MetaNormal Roman "/>
                <a:cs typeface="Lucida Sans Unicode" panose="020B0602030504020204" pitchFamily="34" charset="0"/>
              </a:defRPr>
            </a:lvl1pPr>
            <a:lvl2pPr>
              <a:defRPr sz="2000">
                <a:latin typeface="MetaNormal Roman "/>
                <a:cs typeface="Lucida Sans Unicode" panose="020B0602030504020204" pitchFamily="34" charset="0"/>
              </a:defRPr>
            </a:lvl2pPr>
            <a:lvl3pPr>
              <a:defRPr sz="1800">
                <a:latin typeface="MetaNormal Roman "/>
                <a:cs typeface="Lucida Sans Unicode" panose="020B0602030504020204" pitchFamily="34" charset="0"/>
              </a:defRPr>
            </a:lvl3pPr>
            <a:lvl4pPr>
              <a:defRPr sz="1400">
                <a:latin typeface="MetaNormal Roman "/>
                <a:cs typeface="Lucida Sans Unicode" panose="020B0602030504020204" pitchFamily="34" charset="0"/>
              </a:defRPr>
            </a:lvl4pPr>
            <a:lvl5pPr>
              <a:defRPr sz="1600">
                <a:latin typeface="MetaNormal Roman "/>
                <a:cs typeface="Lucida Sans Unicode" panose="020B0602030504020204" pitchFamily="34" charset="0"/>
              </a:defRPr>
            </a:lvl5pPr>
          </a:lstStyle>
          <a:p>
            <a:pPr lvl="0"/>
            <a:r>
              <a:rPr lang="en-US" noProof="0" dirty="0"/>
              <a:t>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Segnaposto data 3">
            <a:extLst>
              <a:ext uri="{FF2B5EF4-FFF2-40B4-BE49-F238E27FC236}">
                <a16:creationId xmlns:a16="http://schemas.microsoft.com/office/drawing/2014/main" id="{7A61E8FE-2E5A-F039-BE7E-634A310AD4CE}"/>
              </a:ext>
            </a:extLst>
          </p:cNvPr>
          <p:cNvSpPr>
            <a:spLocks noGrp="1"/>
          </p:cNvSpPr>
          <p:nvPr>
            <p:ph type="dt" sz="half" idx="10"/>
          </p:nvPr>
        </p:nvSpPr>
        <p:spPr/>
        <p:txBody>
          <a:bodyPr/>
          <a:lstStyle/>
          <a:p>
            <a:fld id="{830817D0-1760-4EF2-9BA7-382AB707A5B2}" type="datetime1">
              <a:rPr lang="en-US" noProof="0" smtClean="0"/>
              <a:t>10/6/2026</a:t>
            </a:fld>
            <a:endParaRPr lang="en-US" noProof="0" dirty="0"/>
          </a:p>
        </p:txBody>
      </p:sp>
      <p:sp>
        <p:nvSpPr>
          <p:cNvPr id="5" name="Segnaposto piè di pagina 4">
            <a:extLst>
              <a:ext uri="{FF2B5EF4-FFF2-40B4-BE49-F238E27FC236}">
                <a16:creationId xmlns:a16="http://schemas.microsoft.com/office/drawing/2014/main" id="{D11D06A8-1C5F-1771-047C-5332D61150C7}"/>
              </a:ext>
            </a:extLst>
          </p:cNvPr>
          <p:cNvSpPr>
            <a:spLocks noGrp="1"/>
          </p:cNvSpPr>
          <p:nvPr>
            <p:ph type="ftr" sz="quarter" idx="11"/>
          </p:nvPr>
        </p:nvSpPr>
        <p:spPr/>
        <p:txBody>
          <a:bodyPr/>
          <a:lstStyle/>
          <a:p>
            <a:r>
              <a:rPr lang="en-US" noProof="0"/>
              <a:t>Footer</a:t>
            </a:r>
            <a:endParaRPr lang="en-US" noProof="0" dirty="0"/>
          </a:p>
        </p:txBody>
      </p:sp>
      <p:sp>
        <p:nvSpPr>
          <p:cNvPr id="6" name="Segnaposto numero diapositiva 5">
            <a:extLst>
              <a:ext uri="{FF2B5EF4-FFF2-40B4-BE49-F238E27FC236}">
                <a16:creationId xmlns:a16="http://schemas.microsoft.com/office/drawing/2014/main" id="{A2A22FC1-924B-031C-7E08-BE140512F654}"/>
              </a:ext>
            </a:extLst>
          </p:cNvPr>
          <p:cNvSpPr>
            <a:spLocks noGrp="1"/>
          </p:cNvSpPr>
          <p:nvPr>
            <p:ph type="sldNum" sz="quarter" idx="12"/>
          </p:nvPr>
        </p:nvSpPr>
        <p:spPr/>
        <p:txBody>
          <a:bodyPr/>
          <a:lstStyle/>
          <a:p>
            <a:fld id="{1FF0BA41-2116-4003-BC76-AB2EA894D397}" type="slidenum">
              <a:rPr lang="en-US" noProof="0" smtClean="0"/>
              <a:t>‹Nr.›</a:t>
            </a:fld>
            <a:endParaRPr lang="en-US" noProof="0" dirty="0"/>
          </a:p>
        </p:txBody>
      </p:sp>
      <p:sp>
        <p:nvSpPr>
          <p:cNvPr id="7" name="Titolo 1">
            <a:extLst>
              <a:ext uri="{FF2B5EF4-FFF2-40B4-BE49-F238E27FC236}">
                <a16:creationId xmlns:a16="http://schemas.microsoft.com/office/drawing/2014/main" id="{E13B8903-A052-596E-6A37-1A2C3C9A431C}"/>
              </a:ext>
            </a:extLst>
          </p:cNvPr>
          <p:cNvSpPr>
            <a:spLocks noGrp="1"/>
          </p:cNvSpPr>
          <p:nvPr>
            <p:ph type="title" hasCustomPrompt="1"/>
          </p:nvPr>
        </p:nvSpPr>
        <p:spPr>
          <a:xfrm>
            <a:off x="838200" y="149737"/>
            <a:ext cx="10515600" cy="952129"/>
          </a:xfrm>
        </p:spPr>
        <p:txBody>
          <a:bodyPr/>
          <a:lstStyle>
            <a:lvl1pPr>
              <a:defRPr>
                <a:latin typeface="MetaBold Roman"/>
              </a:defRPr>
            </a:lvl1pPr>
          </a:lstStyle>
          <a:p>
            <a:r>
              <a:rPr lang="en-US" noProof="0" dirty="0"/>
              <a:t>Title</a:t>
            </a:r>
          </a:p>
        </p:txBody>
      </p:sp>
    </p:spTree>
    <p:extLst>
      <p:ext uri="{BB962C8B-B14F-4D97-AF65-F5344CB8AC3E}">
        <p14:creationId xmlns:p14="http://schemas.microsoft.com/office/powerpoint/2010/main" val="16231757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997ACD2-6E61-548C-E5D4-0511BF313A2E}"/>
              </a:ext>
            </a:extLst>
          </p:cNvPr>
          <p:cNvSpPr>
            <a:spLocks noGrp="1"/>
          </p:cNvSpPr>
          <p:nvPr>
            <p:ph type="title" hasCustomPrompt="1"/>
          </p:nvPr>
        </p:nvSpPr>
        <p:spPr/>
        <p:txBody>
          <a:bodyPr/>
          <a:lstStyle>
            <a:lvl1pPr>
              <a:defRPr>
                <a:latin typeface="MetaBold Roman"/>
              </a:defRPr>
            </a:lvl1pPr>
          </a:lstStyle>
          <a:p>
            <a:r>
              <a:rPr lang="en-US" noProof="0" dirty="0"/>
              <a:t>Title</a:t>
            </a:r>
          </a:p>
        </p:txBody>
      </p:sp>
      <p:sp>
        <p:nvSpPr>
          <p:cNvPr id="3" name="Segnaposto contenuto 2">
            <a:extLst>
              <a:ext uri="{FF2B5EF4-FFF2-40B4-BE49-F238E27FC236}">
                <a16:creationId xmlns:a16="http://schemas.microsoft.com/office/drawing/2014/main" id="{876FB129-C413-E0CD-5392-E1301B5DF65F}"/>
              </a:ext>
            </a:extLst>
          </p:cNvPr>
          <p:cNvSpPr>
            <a:spLocks noGrp="1"/>
          </p:cNvSpPr>
          <p:nvPr>
            <p:ph sz="half" idx="1" hasCustomPrompt="1"/>
          </p:nvPr>
        </p:nvSpPr>
        <p:spPr>
          <a:xfrm>
            <a:off x="838200" y="1243107"/>
            <a:ext cx="5181600" cy="4934388"/>
          </a:xfrm>
        </p:spPr>
        <p:txBody>
          <a:bodyPr>
            <a:normAutofit/>
          </a:bodyPr>
          <a:lstStyle>
            <a:lvl1pPr>
              <a:defRPr sz="2400">
                <a:latin typeface="MetaNormal Roman "/>
                <a:cs typeface="Lucida Sans Unicode" panose="020B0602030504020204" pitchFamily="34" charset="0"/>
              </a:defRPr>
            </a:lvl1pPr>
            <a:lvl2pPr>
              <a:defRPr sz="2000">
                <a:latin typeface="MetaNormal Roman "/>
              </a:defRPr>
            </a:lvl2pPr>
            <a:lvl3pPr>
              <a:defRPr sz="1800">
                <a:latin typeface="MetaNormal Roman "/>
              </a:defRPr>
            </a:lvl3pPr>
            <a:lvl4pPr>
              <a:defRPr sz="1600">
                <a:latin typeface="MetaNormal Roman "/>
              </a:defRPr>
            </a:lvl4pPr>
            <a:lvl5pPr>
              <a:defRPr sz="1600">
                <a:latin typeface="MetaNormal Roman "/>
              </a:defRPr>
            </a:lvl5pPr>
          </a:lstStyle>
          <a:p>
            <a:pPr lvl="0"/>
            <a:r>
              <a:rPr lang="en-US" noProof="0" dirty="0"/>
              <a:t>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Segnaposto contenuto 3">
            <a:extLst>
              <a:ext uri="{FF2B5EF4-FFF2-40B4-BE49-F238E27FC236}">
                <a16:creationId xmlns:a16="http://schemas.microsoft.com/office/drawing/2014/main" id="{D49AF283-EFE5-E27D-0A64-ADBC4A6B894E}"/>
              </a:ext>
            </a:extLst>
          </p:cNvPr>
          <p:cNvSpPr>
            <a:spLocks noGrp="1"/>
          </p:cNvSpPr>
          <p:nvPr>
            <p:ph sz="half" idx="2" hasCustomPrompt="1"/>
          </p:nvPr>
        </p:nvSpPr>
        <p:spPr>
          <a:xfrm>
            <a:off x="6172200" y="1243107"/>
            <a:ext cx="5181600" cy="4934388"/>
          </a:xfrm>
        </p:spPr>
        <p:txBody>
          <a:bodyPr>
            <a:normAutofit/>
          </a:bodyPr>
          <a:lstStyle>
            <a:lvl1pPr>
              <a:defRPr sz="2400">
                <a:latin typeface="MetaNormal Roman "/>
                <a:cs typeface="Lucida Sans Unicode" panose="020B0602030504020204" pitchFamily="34" charset="0"/>
              </a:defRPr>
            </a:lvl1pPr>
            <a:lvl2pPr>
              <a:defRPr sz="2000">
                <a:latin typeface="MetaNormal Roman "/>
              </a:defRPr>
            </a:lvl2pPr>
            <a:lvl3pPr>
              <a:defRPr sz="1800">
                <a:latin typeface="MetaNormal Roman "/>
              </a:defRPr>
            </a:lvl3pPr>
            <a:lvl4pPr>
              <a:defRPr sz="1600">
                <a:latin typeface="MetaNormal Roman "/>
              </a:defRPr>
            </a:lvl4pPr>
            <a:lvl5pPr>
              <a:defRPr sz="1600">
                <a:latin typeface="MetaNormal Roman "/>
              </a:defRPr>
            </a:lvl5pPr>
          </a:lstStyle>
          <a:p>
            <a:pPr lvl="0"/>
            <a:r>
              <a:rPr lang="en-US" noProof="0" dirty="0"/>
              <a:t>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Segnaposto data 4">
            <a:extLst>
              <a:ext uri="{FF2B5EF4-FFF2-40B4-BE49-F238E27FC236}">
                <a16:creationId xmlns:a16="http://schemas.microsoft.com/office/drawing/2014/main" id="{1EC0B546-8260-42DE-EB3F-16AE82EDCECE}"/>
              </a:ext>
            </a:extLst>
          </p:cNvPr>
          <p:cNvSpPr>
            <a:spLocks noGrp="1"/>
          </p:cNvSpPr>
          <p:nvPr>
            <p:ph type="dt" sz="half" idx="10"/>
          </p:nvPr>
        </p:nvSpPr>
        <p:spPr/>
        <p:txBody>
          <a:bodyPr/>
          <a:lstStyle/>
          <a:p>
            <a:fld id="{81FEA550-99B5-41D2-8600-F1FB1669770B}" type="datetime1">
              <a:rPr lang="en-US" noProof="0" smtClean="0"/>
              <a:t>10/6/2026</a:t>
            </a:fld>
            <a:endParaRPr lang="en-US" noProof="0" dirty="0"/>
          </a:p>
        </p:txBody>
      </p:sp>
      <p:sp>
        <p:nvSpPr>
          <p:cNvPr id="6" name="Segnaposto piè di pagina 5">
            <a:extLst>
              <a:ext uri="{FF2B5EF4-FFF2-40B4-BE49-F238E27FC236}">
                <a16:creationId xmlns:a16="http://schemas.microsoft.com/office/drawing/2014/main" id="{06649DAE-70DD-2A64-8484-383FA6921F9E}"/>
              </a:ext>
            </a:extLst>
          </p:cNvPr>
          <p:cNvSpPr>
            <a:spLocks noGrp="1"/>
          </p:cNvSpPr>
          <p:nvPr>
            <p:ph type="ftr" sz="quarter" idx="11"/>
          </p:nvPr>
        </p:nvSpPr>
        <p:spPr/>
        <p:txBody>
          <a:bodyPr/>
          <a:lstStyle/>
          <a:p>
            <a:r>
              <a:rPr lang="en-US" noProof="0"/>
              <a:t>Footer</a:t>
            </a:r>
            <a:endParaRPr lang="en-US" noProof="0" dirty="0"/>
          </a:p>
        </p:txBody>
      </p:sp>
      <p:sp>
        <p:nvSpPr>
          <p:cNvPr id="7" name="Segnaposto numero diapositiva 6">
            <a:extLst>
              <a:ext uri="{FF2B5EF4-FFF2-40B4-BE49-F238E27FC236}">
                <a16:creationId xmlns:a16="http://schemas.microsoft.com/office/drawing/2014/main" id="{96D7E113-2E51-D3C0-2D50-E006087FA1C0}"/>
              </a:ext>
            </a:extLst>
          </p:cNvPr>
          <p:cNvSpPr>
            <a:spLocks noGrp="1"/>
          </p:cNvSpPr>
          <p:nvPr>
            <p:ph type="sldNum" sz="quarter" idx="12"/>
          </p:nvPr>
        </p:nvSpPr>
        <p:spPr/>
        <p:txBody>
          <a:bodyPr/>
          <a:lstStyle/>
          <a:p>
            <a:fld id="{1FF0BA41-2116-4003-BC76-AB2EA894D397}" type="slidenum">
              <a:rPr lang="en-US" noProof="0" smtClean="0"/>
              <a:t>‹Nr.›</a:t>
            </a:fld>
            <a:endParaRPr lang="en-US" noProof="0" dirty="0"/>
          </a:p>
        </p:txBody>
      </p:sp>
    </p:spTree>
    <p:extLst>
      <p:ext uri="{BB962C8B-B14F-4D97-AF65-F5344CB8AC3E}">
        <p14:creationId xmlns:p14="http://schemas.microsoft.com/office/powerpoint/2010/main" val="5167026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Immagine 6">
            <a:extLst>
              <a:ext uri="{FF2B5EF4-FFF2-40B4-BE49-F238E27FC236}">
                <a16:creationId xmlns:a16="http://schemas.microsoft.com/office/drawing/2014/main" id="{A5C1EAF8-AE16-4895-0964-A88C3FFF61E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V="1">
            <a:off x="0" y="6442544"/>
            <a:ext cx="12192000" cy="415455"/>
          </a:xfrm>
          <a:prstGeom prst="rect">
            <a:avLst/>
          </a:prstGeom>
        </p:spPr>
      </p:pic>
      <p:pic>
        <p:nvPicPr>
          <p:cNvPr id="9" name="Immagine 6">
            <a:extLst>
              <a:ext uri="{FF2B5EF4-FFF2-40B4-BE49-F238E27FC236}">
                <a16:creationId xmlns:a16="http://schemas.microsoft.com/office/drawing/2014/main" id="{3465DCE2-2D4D-A3AC-887A-9DB7DD8B00AC}"/>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flipV="1">
            <a:off x="0" y="6442544"/>
            <a:ext cx="12192000" cy="415455"/>
          </a:xfrm>
          <a:prstGeom prst="rect">
            <a:avLst/>
          </a:prstGeom>
        </p:spPr>
      </p:pic>
      <p:pic>
        <p:nvPicPr>
          <p:cNvPr id="7" name="Immagine 6">
            <a:extLst>
              <a:ext uri="{FF2B5EF4-FFF2-40B4-BE49-F238E27FC236}">
                <a16:creationId xmlns:a16="http://schemas.microsoft.com/office/drawing/2014/main" id="{226F4FDE-EE09-E92C-1AC1-17F75A467FE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V="1">
            <a:off x="0" y="6442544"/>
            <a:ext cx="12192000" cy="415455"/>
          </a:xfrm>
          <a:prstGeom prst="rect">
            <a:avLst/>
          </a:prstGeom>
        </p:spPr>
      </p:pic>
      <p:sp>
        <p:nvSpPr>
          <p:cNvPr id="2" name="Segnaposto titolo 1">
            <a:extLst>
              <a:ext uri="{FF2B5EF4-FFF2-40B4-BE49-F238E27FC236}">
                <a16:creationId xmlns:a16="http://schemas.microsoft.com/office/drawing/2014/main" id="{AB8B6D3C-E318-CCAA-F680-F509B26F8F92}"/>
              </a:ext>
            </a:extLst>
          </p:cNvPr>
          <p:cNvSpPr>
            <a:spLocks noGrp="1"/>
          </p:cNvSpPr>
          <p:nvPr>
            <p:ph type="title"/>
          </p:nvPr>
        </p:nvSpPr>
        <p:spPr>
          <a:xfrm>
            <a:off x="838200" y="149737"/>
            <a:ext cx="10515600" cy="952129"/>
          </a:xfrm>
          <a:prstGeom prst="rect">
            <a:avLst/>
          </a:prstGeom>
        </p:spPr>
        <p:txBody>
          <a:bodyPr vert="horz" lIns="91440" tIns="45720" rIns="91440" bIns="45720" rtlCol="0" anchor="ctr">
            <a:normAutofit/>
          </a:bodyPr>
          <a:lstStyle/>
          <a:p>
            <a:r>
              <a:rPr lang="en-US" noProof="0" dirty="0"/>
              <a:t>Title </a:t>
            </a:r>
          </a:p>
        </p:txBody>
      </p:sp>
      <p:sp>
        <p:nvSpPr>
          <p:cNvPr id="3" name="Segnaposto testo 2">
            <a:extLst>
              <a:ext uri="{FF2B5EF4-FFF2-40B4-BE49-F238E27FC236}">
                <a16:creationId xmlns:a16="http://schemas.microsoft.com/office/drawing/2014/main" id="{9B608B63-CC02-B496-DDBF-1394AA890F35}"/>
              </a:ext>
            </a:extLst>
          </p:cNvPr>
          <p:cNvSpPr>
            <a:spLocks noGrp="1"/>
          </p:cNvSpPr>
          <p:nvPr>
            <p:ph type="body" idx="1"/>
          </p:nvPr>
        </p:nvSpPr>
        <p:spPr>
          <a:xfrm>
            <a:off x="838200" y="1255059"/>
            <a:ext cx="10515600" cy="4922432"/>
          </a:xfrm>
          <a:prstGeom prst="rect">
            <a:avLst/>
          </a:prstGeom>
        </p:spPr>
        <p:txBody>
          <a:bodyPr vert="horz" lIns="91440" tIns="45720" rIns="91440" bIns="45720" rtlCol="0">
            <a:normAutofit/>
          </a:bodyPr>
          <a:lstStyle/>
          <a:p>
            <a:pPr lvl="0"/>
            <a:r>
              <a:rPr lang="en-US" noProof="0" dirty="0"/>
              <a:t>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Segnaposto data 3">
            <a:extLst>
              <a:ext uri="{FF2B5EF4-FFF2-40B4-BE49-F238E27FC236}">
                <a16:creationId xmlns:a16="http://schemas.microsoft.com/office/drawing/2014/main" id="{EFD3E411-CD4E-4DCE-9498-CB44C5CF8FBD}"/>
              </a:ext>
            </a:extLst>
          </p:cNvPr>
          <p:cNvSpPr>
            <a:spLocks noGrp="1"/>
          </p:cNvSpPr>
          <p:nvPr>
            <p:ph type="dt" sz="half" idx="2"/>
          </p:nvPr>
        </p:nvSpPr>
        <p:spPr>
          <a:xfrm>
            <a:off x="838200" y="6483157"/>
            <a:ext cx="2743200" cy="365125"/>
          </a:xfrm>
          <a:prstGeom prst="rect">
            <a:avLst/>
          </a:prstGeom>
        </p:spPr>
        <p:txBody>
          <a:bodyPr vert="horz" lIns="91440" tIns="45720" rIns="91440" bIns="45720" rtlCol="0" anchor="ctr"/>
          <a:lstStyle>
            <a:lvl1pPr algn="l">
              <a:defRPr sz="1200" b="1">
                <a:solidFill>
                  <a:srgbClr val="0052A0"/>
                </a:solidFill>
                <a:latin typeface="MetaNormal Roman "/>
              </a:defRPr>
            </a:lvl1pPr>
          </a:lstStyle>
          <a:p>
            <a:fld id="{E19C8790-9558-4229-9CAB-EC9DD64A33DE}" type="datetime1">
              <a:rPr lang="en-US" smtClean="0"/>
              <a:pPr/>
              <a:t>10/6/2026</a:t>
            </a:fld>
            <a:endParaRPr lang="en-US" dirty="0"/>
          </a:p>
        </p:txBody>
      </p:sp>
      <p:sp>
        <p:nvSpPr>
          <p:cNvPr id="5" name="Segnaposto piè di pagina 4">
            <a:extLst>
              <a:ext uri="{FF2B5EF4-FFF2-40B4-BE49-F238E27FC236}">
                <a16:creationId xmlns:a16="http://schemas.microsoft.com/office/drawing/2014/main" id="{D3145C2C-BBF9-9F45-2A58-677C1150A6C3}"/>
              </a:ext>
            </a:extLst>
          </p:cNvPr>
          <p:cNvSpPr>
            <a:spLocks noGrp="1"/>
          </p:cNvSpPr>
          <p:nvPr>
            <p:ph type="ftr" sz="quarter" idx="3"/>
          </p:nvPr>
        </p:nvSpPr>
        <p:spPr>
          <a:xfrm>
            <a:off x="4038600" y="6483157"/>
            <a:ext cx="4114800" cy="365125"/>
          </a:xfrm>
          <a:prstGeom prst="rect">
            <a:avLst/>
          </a:prstGeom>
        </p:spPr>
        <p:txBody>
          <a:bodyPr vert="horz" lIns="91440" tIns="45720" rIns="91440" bIns="45720" rtlCol="0" anchor="ctr"/>
          <a:lstStyle>
            <a:lvl1pPr algn="ctr">
              <a:defRPr sz="1200" b="1">
                <a:solidFill>
                  <a:srgbClr val="0052A0"/>
                </a:solidFill>
                <a:latin typeface="MetaNormal Roman "/>
              </a:defRPr>
            </a:lvl1pPr>
          </a:lstStyle>
          <a:p>
            <a:r>
              <a:rPr lang="en-US"/>
              <a:t>Footer</a:t>
            </a:r>
            <a:endParaRPr lang="en-US" dirty="0"/>
          </a:p>
        </p:txBody>
      </p:sp>
      <p:sp>
        <p:nvSpPr>
          <p:cNvPr id="6" name="Segnaposto numero diapositiva 5">
            <a:extLst>
              <a:ext uri="{FF2B5EF4-FFF2-40B4-BE49-F238E27FC236}">
                <a16:creationId xmlns:a16="http://schemas.microsoft.com/office/drawing/2014/main" id="{360D8809-166D-94CC-FFB0-149B690F2E71}"/>
              </a:ext>
            </a:extLst>
          </p:cNvPr>
          <p:cNvSpPr>
            <a:spLocks noGrp="1"/>
          </p:cNvSpPr>
          <p:nvPr>
            <p:ph type="sldNum" sz="quarter" idx="4"/>
          </p:nvPr>
        </p:nvSpPr>
        <p:spPr>
          <a:xfrm>
            <a:off x="8778240" y="6483157"/>
            <a:ext cx="2743200" cy="365125"/>
          </a:xfrm>
          <a:prstGeom prst="rect">
            <a:avLst/>
          </a:prstGeom>
        </p:spPr>
        <p:txBody>
          <a:bodyPr vert="horz" lIns="91440" tIns="45720" rIns="91440" bIns="45720" rtlCol="0" anchor="ctr"/>
          <a:lstStyle>
            <a:lvl1pPr algn="r">
              <a:defRPr sz="1200" b="1">
                <a:solidFill>
                  <a:srgbClr val="0052A0"/>
                </a:solidFill>
                <a:latin typeface="MetaNormal Roman "/>
              </a:defRPr>
            </a:lvl1pPr>
          </a:lstStyle>
          <a:p>
            <a:fld id="{1FF0BA41-2116-4003-BC76-AB2EA894D397}" type="slidenum">
              <a:rPr lang="en-US" smtClean="0"/>
              <a:pPr/>
              <a:t>‹Nr.›</a:t>
            </a:fld>
            <a:endParaRPr lang="en-US" dirty="0"/>
          </a:p>
        </p:txBody>
      </p:sp>
    </p:spTree>
    <p:extLst>
      <p:ext uri="{BB962C8B-B14F-4D97-AF65-F5344CB8AC3E}">
        <p14:creationId xmlns:p14="http://schemas.microsoft.com/office/powerpoint/2010/main" val="4181671721"/>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Lst>
  <p:hf hdr="0" dt="0"/>
  <p:txStyles>
    <p:titleStyle>
      <a:lvl1pPr algn="l" defTabSz="914400" rtl="0" eaLnBrk="1" latinLnBrk="0" hangingPunct="1">
        <a:lnSpc>
          <a:spcPct val="90000"/>
        </a:lnSpc>
        <a:spcBef>
          <a:spcPct val="0"/>
        </a:spcBef>
        <a:buNone/>
        <a:defRPr sz="3000" b="0" kern="1200">
          <a:solidFill>
            <a:srgbClr val="0052A0"/>
          </a:solidFill>
          <a:latin typeface="MetaBold Roman"/>
          <a:ea typeface="+mj-ea"/>
          <a:cs typeface="Lucida Sans Unicode" panose="020B06020305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Lucida Sans Unicode" panose="020B0602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Lucida Sans Unicode" panose="020B06020305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Lucida Sans Unicode" panose="020B0602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Lucida Sans Unicode" panose="020B06020305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Lucida Sans Unicode" panose="020B0602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Bachelor Seminar Roadmap (1/2)</a:t>
            </a:r>
          </a:p>
        </p:txBody>
      </p:sp>
      <p:sp>
        <p:nvSpPr>
          <p:cNvPr id="4" name="Rectangle 3"/>
          <p:cNvSpPr/>
          <p:nvPr/>
        </p:nvSpPr>
        <p:spPr>
          <a:xfrm>
            <a:off x="731520" y="1645920"/>
            <a:ext cx="10728655" cy="137160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109728" cy="13716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55648"/>
            <a:ext cx="10271455" cy="1152144"/>
          </a:xfrm>
          <a:prstGeom prst="rect">
            <a:avLst/>
          </a:prstGeom>
          <a:noFill/>
        </p:spPr>
        <p:txBody>
          <a:bodyPr wrap="square">
            <a:spAutoFit/>
          </a:bodyPr>
          <a:lstStyle/>
          <a:p>
            <a:pPr>
              <a:spcAft>
                <a:spcPts val="400"/>
              </a:spcAft>
              <a:defRPr b="1" sz="1300">
                <a:solidFill>
                  <a:srgbClr val="8B5CF6"/>
                </a:solidFill>
              </a:defRPr>
            </a:pPr>
            <a:r>
              <a:t>BLOCK 1: ORIENTATION &amp; TOPIC ASSIGNMENT</a:t>
            </a:r>
          </a:p>
          <a:p>
            <a:pPr>
              <a:spcAft>
                <a:spcPts val="400"/>
              </a:spcAft>
              <a:defRPr b="1" sz="2000">
                <a:solidFill>
                  <a:srgbClr val="0F172A"/>
                </a:solidFill>
              </a:defRPr>
            </a:pPr>
            <a:r>
              <a:t>14-10-2026   |   Mandatory Introductory Meeting</a:t>
            </a:r>
          </a:p>
          <a:p>
            <a:pPr>
              <a:defRPr sz="1600">
                <a:solidFill>
                  <a:srgbClr val="334155"/>
                </a:solidFill>
              </a:defRPr>
            </a:pPr>
            <a:r>
              <a:t>For students who don't show up at this meeting without a valid excuse, supervision commitment will be revoked.</a:t>
            </a:r>
          </a:p>
        </p:txBody>
      </p:sp>
      <p:sp>
        <p:nvSpPr>
          <p:cNvPr id="7" name="Rectangle 6"/>
          <p:cNvSpPr/>
          <p:nvPr/>
        </p:nvSpPr>
        <p:spPr>
          <a:xfrm>
            <a:off x="731520" y="3246120"/>
            <a:ext cx="10728655" cy="137160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3246120"/>
            <a:ext cx="109728" cy="13716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355848"/>
            <a:ext cx="10271455" cy="1152144"/>
          </a:xfrm>
          <a:prstGeom prst="rect">
            <a:avLst/>
          </a:prstGeom>
          <a:noFill/>
        </p:spPr>
        <p:txBody>
          <a:bodyPr wrap="square">
            <a:spAutoFit/>
          </a:bodyPr>
          <a:lstStyle/>
          <a:p>
            <a:pPr>
              <a:spcAft>
                <a:spcPts val="400"/>
              </a:spcAft>
              <a:defRPr b="1" sz="2000">
                <a:solidFill>
                  <a:srgbClr val="0F172A"/>
                </a:solidFill>
              </a:defRPr>
            </a:pPr>
            <a:r>
              <a:t>19-10-2026   |   Topic Selection Deadline</a:t>
            </a:r>
          </a:p>
          <a:p>
            <a:pPr>
              <a:defRPr sz="1600">
                <a:solidFill>
                  <a:srgbClr val="334155"/>
                </a:solidFill>
              </a:defRPr>
            </a:pPr>
            <a:r>
              <a:t>Use the activity in WueCampus to select your preferred topic among the proposed ones. If no topic is selected, supervision commitment will be revoked.</a:t>
            </a:r>
          </a:p>
        </p:txBody>
      </p:sp>
      <p:sp>
        <p:nvSpPr>
          <p:cNvPr id="10" name="Rectangle 9"/>
          <p:cNvSpPr/>
          <p:nvPr/>
        </p:nvSpPr>
        <p:spPr>
          <a:xfrm>
            <a:off x="731520" y="4846320"/>
            <a:ext cx="10728655" cy="137160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4846320"/>
            <a:ext cx="109728" cy="13716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956048"/>
            <a:ext cx="10271455" cy="1152144"/>
          </a:xfrm>
          <a:prstGeom prst="rect">
            <a:avLst/>
          </a:prstGeom>
          <a:noFill/>
        </p:spPr>
        <p:txBody>
          <a:bodyPr wrap="square">
            <a:spAutoFit/>
          </a:bodyPr>
          <a:lstStyle/>
          <a:p>
            <a:pPr>
              <a:spcAft>
                <a:spcPts val="400"/>
              </a:spcAft>
              <a:defRPr b="1" sz="2000">
                <a:solidFill>
                  <a:srgbClr val="0F172A"/>
                </a:solidFill>
              </a:defRPr>
            </a:pPr>
            <a:r>
              <a:t>21-10-2026   |   Intro Methods</a:t>
            </a:r>
          </a:p>
          <a:p>
            <a:pPr>
              <a:defRPr sz="1600">
                <a:solidFill>
                  <a:srgbClr val="334155"/>
                </a:solidFill>
              </a:defRPr>
            </a:pPr>
            <a:r>
              <a:t>Recap Session: Empirical methods and Academic writing and reading guidelines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Bachelor Seminar Roadmap (2/2)</a:t>
            </a:r>
          </a:p>
        </p:txBody>
      </p:sp>
      <p:sp>
        <p:nvSpPr>
          <p:cNvPr id="4" name="Rectangle 3"/>
          <p:cNvSpPr/>
          <p:nvPr/>
        </p:nvSpPr>
        <p:spPr>
          <a:xfrm>
            <a:off x="731520" y="1645920"/>
            <a:ext cx="10728655" cy="137160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109728" cy="1371600"/>
          </a:xfrm>
          <a:prstGeom prst="rect">
            <a:avLst/>
          </a:prstGeom>
          <a:solidFill>
            <a:srgbClr val="5979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55648"/>
            <a:ext cx="10271455" cy="1152144"/>
          </a:xfrm>
          <a:prstGeom prst="rect">
            <a:avLst/>
          </a:prstGeom>
          <a:noFill/>
        </p:spPr>
        <p:txBody>
          <a:bodyPr wrap="square">
            <a:spAutoFit/>
          </a:bodyPr>
          <a:lstStyle/>
          <a:p>
            <a:pPr>
              <a:spcAft>
                <a:spcPts val="400"/>
              </a:spcAft>
              <a:defRPr b="1" sz="1300">
                <a:solidFill>
                  <a:srgbClr val="5979A6"/>
                </a:solidFill>
              </a:defRPr>
            </a:pPr>
            <a:r>
              <a:t>BLOCK 2: RESEARCH, DRAFTS &amp; WRITING PHASE</a:t>
            </a:r>
          </a:p>
          <a:p>
            <a:pPr>
              <a:spcAft>
                <a:spcPts val="400"/>
              </a:spcAft>
              <a:defRPr b="1" sz="2000">
                <a:solidFill>
                  <a:srgbClr val="0F172A"/>
                </a:solidFill>
              </a:defRPr>
            </a:pPr>
            <a:r>
              <a:t>06-11-2026   |   Project Draft</a:t>
            </a:r>
          </a:p>
          <a:p>
            <a:pPr>
              <a:defRPr sz="1600">
                <a:solidFill>
                  <a:srgbClr val="334155"/>
                </a:solidFill>
              </a:defRPr>
            </a:pPr>
            <a:r>
              <a:t>Project Draft to be submitted via WueCampus. Once you submit, you can ask for a meeting to discuss your project.</a:t>
            </a:r>
          </a:p>
        </p:txBody>
      </p:sp>
      <p:sp>
        <p:nvSpPr>
          <p:cNvPr id="7" name="Rectangle 6"/>
          <p:cNvSpPr/>
          <p:nvPr/>
        </p:nvSpPr>
        <p:spPr>
          <a:xfrm>
            <a:off x="731520" y="3246120"/>
            <a:ext cx="10728655" cy="137160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3246120"/>
            <a:ext cx="109728" cy="13716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355848"/>
            <a:ext cx="10271455" cy="1152144"/>
          </a:xfrm>
          <a:prstGeom prst="rect">
            <a:avLst/>
          </a:prstGeom>
          <a:noFill/>
        </p:spPr>
        <p:txBody>
          <a:bodyPr wrap="square">
            <a:spAutoFit/>
          </a:bodyPr>
          <a:lstStyle/>
          <a:p>
            <a:pPr>
              <a:spcAft>
                <a:spcPts val="400"/>
              </a:spcAft>
              <a:defRPr b="1" sz="1300">
                <a:solidFill>
                  <a:srgbClr val="10B981"/>
                </a:solidFill>
              </a:defRPr>
            </a:pPr>
            <a:r>
              <a:t>BLOCK 3: FINAL SUBMISSIONS &amp; PRESENTATIONS</a:t>
            </a:r>
          </a:p>
          <a:p>
            <a:pPr>
              <a:spcAft>
                <a:spcPts val="400"/>
              </a:spcAft>
              <a:defRPr b="1" sz="2000">
                <a:solidFill>
                  <a:srgbClr val="0F172A"/>
                </a:solidFill>
              </a:defRPr>
            </a:pPr>
            <a:r>
              <a:t>27-11-2026   |   B.Sc. Seminar Submission</a:t>
            </a:r>
          </a:p>
        </p:txBody>
      </p:sp>
      <p:sp>
        <p:nvSpPr>
          <p:cNvPr id="10" name="Rectangle 9"/>
          <p:cNvSpPr/>
          <p:nvPr/>
        </p:nvSpPr>
        <p:spPr>
          <a:xfrm>
            <a:off x="731520" y="4846320"/>
            <a:ext cx="10728655" cy="137160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4846320"/>
            <a:ext cx="109728" cy="13716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956048"/>
            <a:ext cx="10271455" cy="1152144"/>
          </a:xfrm>
          <a:prstGeom prst="rect">
            <a:avLst/>
          </a:prstGeom>
          <a:noFill/>
        </p:spPr>
        <p:txBody>
          <a:bodyPr wrap="square">
            <a:spAutoFit/>
          </a:bodyPr>
          <a:lstStyle/>
          <a:p>
            <a:pPr>
              <a:spcAft>
                <a:spcPts val="400"/>
              </a:spcAft>
              <a:defRPr b="1" sz="2000">
                <a:solidFill>
                  <a:srgbClr val="0F172A"/>
                </a:solidFill>
              </a:defRPr>
            </a:pPr>
            <a:r>
              <a:t>02-12-2026   |   B.Sc. Seminar Presentation (tentative)</a:t>
            </a:r>
          </a:p>
          <a:p>
            <a:pPr>
              <a:defRPr sz="1600">
                <a:solidFill>
                  <a:srgbClr val="334155"/>
                </a:solidFill>
              </a:defRPr>
            </a:pPr>
            <a:r>
              <a:t>B.Sc. Seminar final presentation.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Bachelor Thesis Roadmap (1/4)</a:t>
            </a:r>
          </a:p>
        </p:txBody>
      </p:sp>
      <p:sp>
        <p:nvSpPr>
          <p:cNvPr id="4" name="Rectangle 3"/>
          <p:cNvSpPr/>
          <p:nvPr/>
        </p:nvSpPr>
        <p:spPr>
          <a:xfrm>
            <a:off x="731520" y="1645920"/>
            <a:ext cx="10728655" cy="137160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109728" cy="13716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55648"/>
            <a:ext cx="10271455" cy="1152144"/>
          </a:xfrm>
          <a:prstGeom prst="rect">
            <a:avLst/>
          </a:prstGeom>
          <a:noFill/>
        </p:spPr>
        <p:txBody>
          <a:bodyPr wrap="square">
            <a:spAutoFit/>
          </a:bodyPr>
          <a:lstStyle/>
          <a:p>
            <a:pPr>
              <a:spcAft>
                <a:spcPts val="400"/>
              </a:spcAft>
              <a:defRPr b="1" sz="1300">
                <a:solidFill>
                  <a:srgbClr val="8B5CF6"/>
                </a:solidFill>
              </a:defRPr>
            </a:pPr>
            <a:r>
              <a:t>BLOCK 1: RESEARCH IDEA</a:t>
            </a:r>
          </a:p>
          <a:p>
            <a:pPr>
              <a:spcAft>
                <a:spcPts val="400"/>
              </a:spcAft>
              <a:defRPr b="1" sz="2000">
                <a:solidFill>
                  <a:srgbClr val="0F172A"/>
                </a:solidFill>
              </a:defRPr>
            </a:pPr>
            <a:r>
              <a:t>14-10-2026   |   Mandatory Introductory Meeting</a:t>
            </a:r>
          </a:p>
          <a:p>
            <a:pPr>
              <a:defRPr sz="1600">
                <a:solidFill>
                  <a:srgbClr val="334155"/>
                </a:solidFill>
              </a:defRPr>
            </a:pPr>
            <a:r>
              <a:t>For students who don't show up at this meeting without a valid excuse, supervision commitment will be revoked.</a:t>
            </a:r>
          </a:p>
        </p:txBody>
      </p:sp>
      <p:sp>
        <p:nvSpPr>
          <p:cNvPr id="7" name="Rectangle 6"/>
          <p:cNvSpPr/>
          <p:nvPr/>
        </p:nvSpPr>
        <p:spPr>
          <a:xfrm>
            <a:off x="731520" y="3246120"/>
            <a:ext cx="10728655" cy="137160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3246120"/>
            <a:ext cx="109728" cy="13716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355848"/>
            <a:ext cx="10271455" cy="1152144"/>
          </a:xfrm>
          <a:prstGeom prst="rect">
            <a:avLst/>
          </a:prstGeom>
          <a:noFill/>
        </p:spPr>
        <p:txBody>
          <a:bodyPr wrap="square">
            <a:spAutoFit/>
          </a:bodyPr>
          <a:lstStyle/>
          <a:p>
            <a:pPr>
              <a:spcAft>
                <a:spcPts val="400"/>
              </a:spcAft>
              <a:defRPr b="1" sz="2000">
                <a:solidFill>
                  <a:srgbClr val="0F172A"/>
                </a:solidFill>
              </a:defRPr>
            </a:pPr>
            <a:r>
              <a:t>21-10-2026   |   Intro Methods</a:t>
            </a:r>
          </a:p>
          <a:p>
            <a:pPr>
              <a:defRPr sz="1600">
                <a:solidFill>
                  <a:srgbClr val="334155"/>
                </a:solidFill>
              </a:defRPr>
            </a:pPr>
            <a:r>
              <a:t>Recap Session: Empirical methods and Academic writing and reading guidelines</a:t>
            </a:r>
          </a:p>
        </p:txBody>
      </p:sp>
      <p:sp>
        <p:nvSpPr>
          <p:cNvPr id="10" name="Rectangle 9"/>
          <p:cNvSpPr/>
          <p:nvPr/>
        </p:nvSpPr>
        <p:spPr>
          <a:xfrm>
            <a:off x="731520" y="4846320"/>
            <a:ext cx="10728655" cy="137160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4846320"/>
            <a:ext cx="109728" cy="13716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956048"/>
            <a:ext cx="10271455" cy="1152144"/>
          </a:xfrm>
          <a:prstGeom prst="rect">
            <a:avLst/>
          </a:prstGeom>
          <a:noFill/>
        </p:spPr>
        <p:txBody>
          <a:bodyPr wrap="square">
            <a:spAutoFit/>
          </a:bodyPr>
          <a:lstStyle/>
          <a:p>
            <a:pPr>
              <a:spcAft>
                <a:spcPts val="400"/>
              </a:spcAft>
              <a:defRPr b="1" sz="2000">
                <a:solidFill>
                  <a:srgbClr val="0F172A"/>
                </a:solidFill>
              </a:defRPr>
            </a:pPr>
            <a:r>
              <a:t>23-10-2026   |   Project Draft</a:t>
            </a:r>
          </a:p>
          <a:p>
            <a:pPr>
              <a:defRPr sz="1600">
                <a:solidFill>
                  <a:srgbClr val="334155"/>
                </a:solidFill>
              </a:defRPr>
            </a:pPr>
            <a:r>
              <a:t>First Project Draft to be submitted via WueCampus. Usually you will be invited for an individual discussion meeting the week after the submission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Bachelor Thesis Roadmap (2/4)</a:t>
            </a:r>
          </a:p>
        </p:txBody>
      </p:sp>
      <p:sp>
        <p:nvSpPr>
          <p:cNvPr id="4" name="Rectangle 3"/>
          <p:cNvSpPr/>
          <p:nvPr/>
        </p:nvSpPr>
        <p:spPr>
          <a:xfrm>
            <a:off x="731520" y="1645920"/>
            <a:ext cx="10728655" cy="137160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109728" cy="1371600"/>
          </a:xfrm>
          <a:prstGeom prst="rect">
            <a:avLst/>
          </a:prstGeom>
          <a:solidFill>
            <a:srgbClr val="5979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55648"/>
            <a:ext cx="10271455" cy="1152144"/>
          </a:xfrm>
          <a:prstGeom prst="rect">
            <a:avLst/>
          </a:prstGeom>
          <a:noFill/>
        </p:spPr>
        <p:txBody>
          <a:bodyPr wrap="square">
            <a:spAutoFit/>
          </a:bodyPr>
          <a:lstStyle/>
          <a:p>
            <a:pPr>
              <a:spcAft>
                <a:spcPts val="400"/>
              </a:spcAft>
              <a:defRPr b="1" sz="1300">
                <a:solidFill>
                  <a:srgbClr val="5979A6"/>
                </a:solidFill>
              </a:defRPr>
            </a:pPr>
            <a:r>
              <a:t>BLOCK 2: RESEARCH QUESTION FINALIZATION</a:t>
            </a:r>
          </a:p>
          <a:p>
            <a:pPr>
              <a:spcAft>
                <a:spcPts val="400"/>
              </a:spcAft>
              <a:defRPr b="1" sz="2000">
                <a:solidFill>
                  <a:srgbClr val="0F172A"/>
                </a:solidFill>
              </a:defRPr>
            </a:pPr>
            <a:r>
              <a:t>06-11-2026   |   Extended Project Draft</a:t>
            </a:r>
          </a:p>
          <a:p>
            <a:pPr>
              <a:defRPr sz="1600">
                <a:solidFill>
                  <a:srgbClr val="334155"/>
                </a:solidFill>
              </a:defRPr>
            </a:pPr>
            <a:r>
              <a:t>Extended Project Draft to be submitted via WueCampus.</a:t>
            </a:r>
          </a:p>
        </p:txBody>
      </p:sp>
      <p:sp>
        <p:nvSpPr>
          <p:cNvPr id="7" name="Rectangle 6"/>
          <p:cNvSpPr/>
          <p:nvPr/>
        </p:nvSpPr>
        <p:spPr>
          <a:xfrm>
            <a:off x="731520" y="3246120"/>
            <a:ext cx="10728655" cy="137160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3246120"/>
            <a:ext cx="109728" cy="13716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355848"/>
            <a:ext cx="10271455" cy="1152144"/>
          </a:xfrm>
          <a:prstGeom prst="rect">
            <a:avLst/>
          </a:prstGeom>
          <a:noFill/>
        </p:spPr>
        <p:txBody>
          <a:bodyPr wrap="square">
            <a:spAutoFit/>
          </a:bodyPr>
          <a:lstStyle/>
          <a:p>
            <a:pPr>
              <a:spcAft>
                <a:spcPts val="400"/>
              </a:spcAft>
              <a:defRPr b="1" sz="1300">
                <a:solidFill>
                  <a:srgbClr val="10B981"/>
                </a:solidFill>
              </a:defRPr>
            </a:pPr>
            <a:r>
              <a:t>BLOCK 3: EXPERIMENTAL DESIGN SETUP</a:t>
            </a:r>
          </a:p>
          <a:p>
            <a:pPr>
              <a:spcAft>
                <a:spcPts val="400"/>
              </a:spcAft>
              <a:defRPr b="1" sz="2000">
                <a:solidFill>
                  <a:srgbClr val="0F172A"/>
                </a:solidFill>
              </a:defRPr>
            </a:pPr>
            <a:r>
              <a:t>27-11-2026   |   Design proposal and/or survey proposal</a:t>
            </a:r>
          </a:p>
          <a:p>
            <a:pPr>
              <a:defRPr sz="1600">
                <a:solidFill>
                  <a:srgbClr val="334155"/>
                </a:solidFill>
              </a:defRPr>
            </a:pPr>
            <a:r>
              <a:t>Submission of your design proposal and/or survey.</a:t>
            </a:r>
          </a:p>
        </p:txBody>
      </p:sp>
      <p:sp>
        <p:nvSpPr>
          <p:cNvPr id="10" name="Rectangle 9"/>
          <p:cNvSpPr/>
          <p:nvPr/>
        </p:nvSpPr>
        <p:spPr>
          <a:xfrm>
            <a:off x="731520" y="4846320"/>
            <a:ext cx="10728655" cy="137160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4846320"/>
            <a:ext cx="109728" cy="13716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956048"/>
            <a:ext cx="10271455" cy="1152144"/>
          </a:xfrm>
          <a:prstGeom prst="rect">
            <a:avLst/>
          </a:prstGeom>
          <a:noFill/>
        </p:spPr>
        <p:txBody>
          <a:bodyPr wrap="square">
            <a:spAutoFit/>
          </a:bodyPr>
          <a:lstStyle/>
          <a:p>
            <a:pPr>
              <a:spcAft>
                <a:spcPts val="400"/>
              </a:spcAft>
              <a:defRPr b="1" sz="2000">
                <a:solidFill>
                  <a:srgbClr val="0F172A"/>
                </a:solidFill>
              </a:defRPr>
            </a:pPr>
            <a:r>
              <a:t>02-12-2026   |   Intermediate Presentation (tentative) + Antrag auf Zuteilung Bachelor Arbeit</a:t>
            </a:r>
          </a:p>
          <a:p>
            <a:pPr>
              <a:defRPr sz="1600">
                <a:solidFill>
                  <a:srgbClr val="334155"/>
                </a:solidFill>
              </a:defRPr>
            </a:pPr>
            <a:r>
              <a:t>First project presentation.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Bachelor Thesis Roadmap (3/4)</a:t>
            </a:r>
          </a:p>
        </p:txBody>
      </p:sp>
      <p:sp>
        <p:nvSpPr>
          <p:cNvPr id="4" name="Rectangle 3"/>
          <p:cNvSpPr/>
          <p:nvPr/>
        </p:nvSpPr>
        <p:spPr>
          <a:xfrm>
            <a:off x="731520" y="1645920"/>
            <a:ext cx="10728655" cy="137160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109728" cy="13716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55648"/>
            <a:ext cx="10271455" cy="1152144"/>
          </a:xfrm>
          <a:prstGeom prst="rect">
            <a:avLst/>
          </a:prstGeom>
          <a:noFill/>
        </p:spPr>
        <p:txBody>
          <a:bodyPr wrap="square">
            <a:spAutoFit/>
          </a:bodyPr>
          <a:lstStyle/>
          <a:p>
            <a:pPr>
              <a:spcAft>
                <a:spcPts val="400"/>
              </a:spcAft>
              <a:defRPr b="1" sz="2000">
                <a:solidFill>
                  <a:srgbClr val="0F172A"/>
                </a:solidFill>
              </a:defRPr>
            </a:pPr>
            <a:r>
              <a:t>09-12-2026   |   Final design and/or survey submission</a:t>
            </a:r>
          </a:p>
          <a:p>
            <a:pPr>
              <a:defRPr sz="1600">
                <a:solidFill>
                  <a:srgbClr val="334155"/>
                </a:solidFill>
              </a:defRPr>
            </a:pPr>
            <a:r>
              <a:t>Submission of final design and/or survey used for data collection.</a:t>
            </a:r>
          </a:p>
        </p:txBody>
      </p:sp>
      <p:sp>
        <p:nvSpPr>
          <p:cNvPr id="7" name="Rectangle 6"/>
          <p:cNvSpPr/>
          <p:nvPr/>
        </p:nvSpPr>
        <p:spPr>
          <a:xfrm>
            <a:off x="731520" y="3246120"/>
            <a:ext cx="10728655" cy="137160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3246120"/>
            <a:ext cx="109728" cy="1371600"/>
          </a:xfrm>
          <a:prstGeom prst="rect">
            <a:avLst/>
          </a:prstGeom>
          <a:solidFill>
            <a:srgbClr val="069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355848"/>
            <a:ext cx="10271455" cy="1152144"/>
          </a:xfrm>
          <a:prstGeom prst="rect">
            <a:avLst/>
          </a:prstGeom>
          <a:noFill/>
        </p:spPr>
        <p:txBody>
          <a:bodyPr wrap="square">
            <a:spAutoFit/>
          </a:bodyPr>
          <a:lstStyle/>
          <a:p>
            <a:pPr>
              <a:spcAft>
                <a:spcPts val="400"/>
              </a:spcAft>
              <a:defRPr b="1" sz="1300">
                <a:solidFill>
                  <a:srgbClr val="0696D4"/>
                </a:solidFill>
              </a:defRPr>
            </a:pPr>
            <a:r>
              <a:t>BLOCK 4: PROJECT FINALIZATION</a:t>
            </a:r>
          </a:p>
          <a:p>
            <a:pPr>
              <a:spcAft>
                <a:spcPts val="400"/>
              </a:spcAft>
              <a:defRPr b="1" sz="2000">
                <a:solidFill>
                  <a:srgbClr val="0F172A"/>
                </a:solidFill>
              </a:defRPr>
            </a:pPr>
            <a:r>
              <a:t>09-01-2027   |   Paper Draft + Collected Data</a:t>
            </a:r>
          </a:p>
          <a:p>
            <a:pPr>
              <a:defRPr sz="1600">
                <a:solidFill>
                  <a:srgbClr val="334155"/>
                </a:solidFill>
              </a:defRPr>
            </a:pPr>
            <a:r>
              <a:t>Paper draft to be submitted via WueCampus together with the raw collected data.</a:t>
            </a:r>
          </a:p>
        </p:txBody>
      </p:sp>
      <p:sp>
        <p:nvSpPr>
          <p:cNvPr id="10" name="Rectangle 9"/>
          <p:cNvSpPr/>
          <p:nvPr/>
        </p:nvSpPr>
        <p:spPr>
          <a:xfrm>
            <a:off x="731520" y="4846320"/>
            <a:ext cx="10728655" cy="137160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4846320"/>
            <a:ext cx="109728" cy="1371600"/>
          </a:xfrm>
          <a:prstGeom prst="rect">
            <a:avLst/>
          </a:prstGeom>
          <a:solidFill>
            <a:srgbClr val="069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956048"/>
            <a:ext cx="10271455" cy="1152144"/>
          </a:xfrm>
          <a:prstGeom prst="rect">
            <a:avLst/>
          </a:prstGeom>
          <a:noFill/>
        </p:spPr>
        <p:txBody>
          <a:bodyPr wrap="square">
            <a:spAutoFit/>
          </a:bodyPr>
          <a:lstStyle/>
          <a:p>
            <a:pPr>
              <a:spcAft>
                <a:spcPts val="400"/>
              </a:spcAft>
              <a:defRPr b="1" sz="2000">
                <a:solidFill>
                  <a:srgbClr val="0F172A"/>
                </a:solidFill>
              </a:defRPr>
            </a:pPr>
            <a:r>
              <a:t>09-01-2027   |   Collected data submission</a:t>
            </a:r>
          </a:p>
          <a:p>
            <a:pPr>
              <a:defRPr sz="1600">
                <a:solidFill>
                  <a:srgbClr val="334155"/>
                </a:solidFill>
              </a:defRPr>
            </a:pPr>
            <a:r>
              <a:t>Raw collected data submitted via WueCampus. Only for students carrying out an own contribution project.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Bachelor Thesis Roadmap (4/4)</a:t>
            </a:r>
          </a:p>
        </p:txBody>
      </p:sp>
      <p:sp>
        <p:nvSpPr>
          <p:cNvPr id="4" name="Rectangle 3"/>
          <p:cNvSpPr/>
          <p:nvPr/>
        </p:nvSpPr>
        <p:spPr>
          <a:xfrm>
            <a:off x="731520" y="1645920"/>
            <a:ext cx="10728655" cy="217170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109728" cy="2171700"/>
          </a:xfrm>
          <a:prstGeom prst="rect">
            <a:avLst/>
          </a:prstGeom>
          <a:solidFill>
            <a:srgbClr val="069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55648"/>
            <a:ext cx="10271455" cy="1952244"/>
          </a:xfrm>
          <a:prstGeom prst="rect">
            <a:avLst/>
          </a:prstGeom>
          <a:noFill/>
        </p:spPr>
        <p:txBody>
          <a:bodyPr wrap="square">
            <a:spAutoFit/>
          </a:bodyPr>
          <a:lstStyle/>
          <a:p>
            <a:pPr>
              <a:spcAft>
                <a:spcPts val="400"/>
              </a:spcAft>
              <a:defRPr b="1" sz="2000">
                <a:solidFill>
                  <a:srgbClr val="0F172A"/>
                </a:solidFill>
              </a:defRPr>
            </a:pPr>
            <a:r>
              <a:t>21-01-2027   |   Presentation (tentative)</a:t>
            </a:r>
          </a:p>
          <a:p>
            <a:pPr>
              <a:defRPr sz="1600">
                <a:solidFill>
                  <a:srgbClr val="334155"/>
                </a:solidFill>
              </a:defRPr>
            </a:pPr>
            <a:r>
              <a:t>A colloquium to present your project and get feedbacks</a:t>
            </a:r>
          </a:p>
        </p:txBody>
      </p:sp>
      <p:sp>
        <p:nvSpPr>
          <p:cNvPr id="7" name="Rectangle 6"/>
          <p:cNvSpPr/>
          <p:nvPr/>
        </p:nvSpPr>
        <p:spPr>
          <a:xfrm>
            <a:off x="731520" y="4046220"/>
            <a:ext cx="10728655" cy="217170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4046220"/>
            <a:ext cx="109728" cy="2171700"/>
          </a:xfrm>
          <a:prstGeom prst="rect">
            <a:avLst/>
          </a:prstGeom>
          <a:solidFill>
            <a:srgbClr val="B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155948"/>
            <a:ext cx="10271455" cy="1952244"/>
          </a:xfrm>
          <a:prstGeom prst="rect">
            <a:avLst/>
          </a:prstGeom>
          <a:noFill/>
        </p:spPr>
        <p:txBody>
          <a:bodyPr wrap="square">
            <a:spAutoFit/>
          </a:bodyPr>
          <a:lstStyle/>
          <a:p>
            <a:pPr>
              <a:spcAft>
                <a:spcPts val="400"/>
              </a:spcAft>
              <a:defRPr b="1" sz="1300">
                <a:solidFill>
                  <a:srgbClr val="BC4899"/>
                </a:solidFill>
              </a:defRPr>
            </a:pPr>
            <a:r>
              <a:t>BLOCK 5: FINAL SUBMISSION</a:t>
            </a:r>
          </a:p>
          <a:p>
            <a:pPr>
              <a:spcAft>
                <a:spcPts val="400"/>
              </a:spcAft>
              <a:defRPr b="1" sz="2000">
                <a:solidFill>
                  <a:srgbClr val="0F172A"/>
                </a:solidFill>
              </a:defRPr>
            </a:pPr>
            <a:r>
              <a:t>27-01-2027   |   B.Sc. Thesis Submission</a:t>
            </a:r>
          </a:p>
          <a:p>
            <a:pPr>
              <a:defRPr sz="1600">
                <a:solidFill>
                  <a:srgbClr val="334155"/>
                </a:solidFill>
              </a:defRPr>
            </a:pPr>
            <a:r>
              <a:t>Final thesis and material submission.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Master Seminar Roadmap (1/3)</a:t>
            </a:r>
          </a:p>
        </p:txBody>
      </p:sp>
      <p:sp>
        <p:nvSpPr>
          <p:cNvPr id="4" name="Rectangle 3"/>
          <p:cNvSpPr/>
          <p:nvPr/>
        </p:nvSpPr>
        <p:spPr>
          <a:xfrm>
            <a:off x="731520" y="1645920"/>
            <a:ext cx="10728655" cy="137160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109728" cy="13716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55648"/>
            <a:ext cx="10271455" cy="1152144"/>
          </a:xfrm>
          <a:prstGeom prst="rect">
            <a:avLst/>
          </a:prstGeom>
          <a:noFill/>
        </p:spPr>
        <p:txBody>
          <a:bodyPr wrap="square">
            <a:spAutoFit/>
          </a:bodyPr>
          <a:lstStyle/>
          <a:p>
            <a:pPr>
              <a:spcAft>
                <a:spcPts val="400"/>
              </a:spcAft>
              <a:defRPr b="1" sz="1300">
                <a:solidFill>
                  <a:srgbClr val="8B5CF6"/>
                </a:solidFill>
              </a:defRPr>
            </a:pPr>
            <a:r>
              <a:t>BLOCK 1: ORIENTATION &amp; TOPIC ASSIGNMENT</a:t>
            </a:r>
          </a:p>
          <a:p>
            <a:pPr>
              <a:spcAft>
                <a:spcPts val="400"/>
              </a:spcAft>
              <a:defRPr b="1" sz="2000">
                <a:solidFill>
                  <a:srgbClr val="0F172A"/>
                </a:solidFill>
              </a:defRPr>
            </a:pPr>
            <a:r>
              <a:t>14-10-2026   |   Mandatory Introductory Meeting</a:t>
            </a:r>
          </a:p>
          <a:p>
            <a:pPr>
              <a:defRPr sz="1600">
                <a:solidFill>
                  <a:srgbClr val="334155"/>
                </a:solidFill>
              </a:defRPr>
            </a:pPr>
            <a:r>
              <a:t>For students who don't show up at this meeting without a valid excuse, supervision commitment will be revoked.</a:t>
            </a:r>
          </a:p>
        </p:txBody>
      </p:sp>
      <p:sp>
        <p:nvSpPr>
          <p:cNvPr id="7" name="Rectangle 6"/>
          <p:cNvSpPr/>
          <p:nvPr/>
        </p:nvSpPr>
        <p:spPr>
          <a:xfrm>
            <a:off x="731520" y="3246120"/>
            <a:ext cx="10728655" cy="137160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3246120"/>
            <a:ext cx="109728" cy="13716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355848"/>
            <a:ext cx="10271455" cy="1152144"/>
          </a:xfrm>
          <a:prstGeom prst="rect">
            <a:avLst/>
          </a:prstGeom>
          <a:noFill/>
        </p:spPr>
        <p:txBody>
          <a:bodyPr wrap="square">
            <a:spAutoFit/>
          </a:bodyPr>
          <a:lstStyle/>
          <a:p>
            <a:pPr>
              <a:spcAft>
                <a:spcPts val="400"/>
              </a:spcAft>
              <a:defRPr b="1" sz="2000">
                <a:solidFill>
                  <a:srgbClr val="0F172A"/>
                </a:solidFill>
              </a:defRPr>
            </a:pPr>
            <a:r>
              <a:t>21-10-2026   |   Intro Methods</a:t>
            </a:r>
          </a:p>
          <a:p>
            <a:pPr>
              <a:defRPr sz="1600">
                <a:solidFill>
                  <a:srgbClr val="334155"/>
                </a:solidFill>
              </a:defRPr>
            </a:pPr>
            <a:r>
              <a:t>Recap Session: Empirical methods and Academic writing and reading guidelines</a:t>
            </a:r>
          </a:p>
        </p:txBody>
      </p:sp>
      <p:sp>
        <p:nvSpPr>
          <p:cNvPr id="10" name="Rectangle 9"/>
          <p:cNvSpPr/>
          <p:nvPr/>
        </p:nvSpPr>
        <p:spPr>
          <a:xfrm>
            <a:off x="731520" y="4846320"/>
            <a:ext cx="10728655" cy="137160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4846320"/>
            <a:ext cx="109728" cy="1371600"/>
          </a:xfrm>
          <a:prstGeom prst="rect">
            <a:avLst/>
          </a:prstGeom>
          <a:solidFill>
            <a:srgbClr val="5979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956048"/>
            <a:ext cx="10271455" cy="1152144"/>
          </a:xfrm>
          <a:prstGeom prst="rect">
            <a:avLst/>
          </a:prstGeom>
          <a:noFill/>
        </p:spPr>
        <p:txBody>
          <a:bodyPr wrap="square">
            <a:spAutoFit/>
          </a:bodyPr>
          <a:lstStyle/>
          <a:p>
            <a:pPr>
              <a:spcAft>
                <a:spcPts val="400"/>
              </a:spcAft>
              <a:defRPr b="1" sz="1300">
                <a:solidFill>
                  <a:srgbClr val="5979A6"/>
                </a:solidFill>
              </a:defRPr>
            </a:pPr>
            <a:r>
              <a:t>BLOCK 2: RESEARCH, DRAFTS &amp; WRITING PHASE</a:t>
            </a:r>
          </a:p>
          <a:p>
            <a:pPr>
              <a:spcAft>
                <a:spcPts val="400"/>
              </a:spcAft>
              <a:defRPr b="1" sz="2000">
                <a:solidFill>
                  <a:srgbClr val="0F172A"/>
                </a:solidFill>
              </a:defRPr>
            </a:pPr>
            <a:r>
              <a:t>23-10-2026   |   Project Draft</a:t>
            </a:r>
          </a:p>
          <a:p>
            <a:pPr>
              <a:defRPr sz="1600">
                <a:solidFill>
                  <a:srgbClr val="334155"/>
                </a:solidFill>
              </a:defRPr>
            </a:pPr>
            <a:r>
              <a:t>First Project Draft to be submitted via WueCampus. Usually you will be invited for an individual meeting the week after the submission.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Master Seminar Roadmap (2/3)</a:t>
            </a:r>
          </a:p>
        </p:txBody>
      </p:sp>
      <p:sp>
        <p:nvSpPr>
          <p:cNvPr id="4" name="Rectangle 3"/>
          <p:cNvSpPr/>
          <p:nvPr/>
        </p:nvSpPr>
        <p:spPr>
          <a:xfrm>
            <a:off x="731520" y="1645920"/>
            <a:ext cx="10728655" cy="137160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109728" cy="1371600"/>
          </a:xfrm>
          <a:prstGeom prst="rect">
            <a:avLst/>
          </a:prstGeom>
          <a:solidFill>
            <a:srgbClr val="5979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55648"/>
            <a:ext cx="10271455" cy="1152144"/>
          </a:xfrm>
          <a:prstGeom prst="rect">
            <a:avLst/>
          </a:prstGeom>
          <a:noFill/>
        </p:spPr>
        <p:txBody>
          <a:bodyPr wrap="square">
            <a:spAutoFit/>
          </a:bodyPr>
          <a:lstStyle/>
          <a:p>
            <a:pPr>
              <a:spcAft>
                <a:spcPts val="400"/>
              </a:spcAft>
              <a:defRPr b="1" sz="2000">
                <a:solidFill>
                  <a:srgbClr val="0F172A"/>
                </a:solidFill>
              </a:defRPr>
            </a:pPr>
            <a:r>
              <a:t>06-11-2026   |   Extended Project Draft</a:t>
            </a:r>
          </a:p>
          <a:p>
            <a:pPr>
              <a:defRPr sz="1600">
                <a:solidFill>
                  <a:srgbClr val="334155"/>
                </a:solidFill>
              </a:defRPr>
            </a:pPr>
            <a:r>
              <a:t>Extended Project Draft to be submitted via WueCampus. Depending on the type of project you are carrying out (replication or own contribution) the content of this draft might vary. Once you submit, you can ask for a meeting to discuss your project.</a:t>
            </a:r>
          </a:p>
        </p:txBody>
      </p:sp>
      <p:sp>
        <p:nvSpPr>
          <p:cNvPr id="7" name="Rectangle 6"/>
          <p:cNvSpPr/>
          <p:nvPr/>
        </p:nvSpPr>
        <p:spPr>
          <a:xfrm>
            <a:off x="731520" y="3246120"/>
            <a:ext cx="10728655" cy="137160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3246120"/>
            <a:ext cx="109728" cy="1371600"/>
          </a:xfrm>
          <a:prstGeom prst="rect">
            <a:avLst/>
          </a:prstGeom>
          <a:solidFill>
            <a:srgbClr val="5979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355848"/>
            <a:ext cx="10271455" cy="1152144"/>
          </a:xfrm>
          <a:prstGeom prst="rect">
            <a:avLst/>
          </a:prstGeom>
          <a:noFill/>
        </p:spPr>
        <p:txBody>
          <a:bodyPr wrap="square">
            <a:spAutoFit/>
          </a:bodyPr>
          <a:lstStyle/>
          <a:p>
            <a:pPr>
              <a:spcAft>
                <a:spcPts val="400"/>
              </a:spcAft>
              <a:defRPr b="1" sz="2000">
                <a:solidFill>
                  <a:srgbClr val="0F172A"/>
                </a:solidFill>
              </a:defRPr>
            </a:pPr>
            <a:r>
              <a:t>27-11-2026   |   Design proposal and/or survey proposal</a:t>
            </a:r>
          </a:p>
          <a:p>
            <a:pPr>
              <a:defRPr sz="1600">
                <a:solidFill>
                  <a:srgbClr val="334155"/>
                </a:solidFill>
              </a:defRPr>
            </a:pPr>
            <a:r>
              <a:t>Submission of your design proposal and/or survey proposal. Only for students carrying out an own contribution project.</a:t>
            </a:r>
          </a:p>
        </p:txBody>
      </p:sp>
      <p:sp>
        <p:nvSpPr>
          <p:cNvPr id="10" name="Rectangle 9"/>
          <p:cNvSpPr/>
          <p:nvPr/>
        </p:nvSpPr>
        <p:spPr>
          <a:xfrm>
            <a:off x="731520" y="4846320"/>
            <a:ext cx="10728655" cy="137160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4846320"/>
            <a:ext cx="109728" cy="1371600"/>
          </a:xfrm>
          <a:prstGeom prst="rect">
            <a:avLst/>
          </a:prstGeom>
          <a:solidFill>
            <a:srgbClr val="5979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956048"/>
            <a:ext cx="10271455" cy="1152144"/>
          </a:xfrm>
          <a:prstGeom prst="rect">
            <a:avLst/>
          </a:prstGeom>
          <a:noFill/>
        </p:spPr>
        <p:txBody>
          <a:bodyPr wrap="square">
            <a:spAutoFit/>
          </a:bodyPr>
          <a:lstStyle/>
          <a:p>
            <a:pPr>
              <a:spcAft>
                <a:spcPts val="400"/>
              </a:spcAft>
              <a:defRPr b="1" sz="2000">
                <a:solidFill>
                  <a:srgbClr val="0F172A"/>
                </a:solidFill>
              </a:defRPr>
            </a:pPr>
            <a:r>
              <a:t>09-12-2026   |   Final design and/or survey submission</a:t>
            </a:r>
          </a:p>
          <a:p>
            <a:pPr>
              <a:defRPr sz="1600">
                <a:solidFill>
                  <a:srgbClr val="334155"/>
                </a:solidFill>
              </a:defRPr>
            </a:pPr>
            <a:r>
              <a:t>Submission of final design and/or survey used for data collection. Only for students carrying out an own contribution project.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Master Seminar Roadmap (3/3)</a:t>
            </a:r>
          </a:p>
        </p:txBody>
      </p:sp>
      <p:sp>
        <p:nvSpPr>
          <p:cNvPr id="4" name="Rectangle 3"/>
          <p:cNvSpPr/>
          <p:nvPr/>
        </p:nvSpPr>
        <p:spPr>
          <a:xfrm>
            <a:off x="731520" y="1645920"/>
            <a:ext cx="10728655" cy="217170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109728" cy="21717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55648"/>
            <a:ext cx="10271455" cy="1952244"/>
          </a:xfrm>
          <a:prstGeom prst="rect">
            <a:avLst/>
          </a:prstGeom>
          <a:noFill/>
        </p:spPr>
        <p:txBody>
          <a:bodyPr wrap="square">
            <a:spAutoFit/>
          </a:bodyPr>
          <a:lstStyle/>
          <a:p>
            <a:pPr>
              <a:spcAft>
                <a:spcPts val="400"/>
              </a:spcAft>
              <a:defRPr b="1" sz="1300">
                <a:solidFill>
                  <a:srgbClr val="10B981"/>
                </a:solidFill>
              </a:defRPr>
            </a:pPr>
            <a:r>
              <a:t>BLOCK 3: FINAL SUBMISSIONS &amp; PRESENTATIONS</a:t>
            </a:r>
          </a:p>
          <a:p>
            <a:pPr>
              <a:spcAft>
                <a:spcPts val="400"/>
              </a:spcAft>
              <a:defRPr b="1" sz="2000">
                <a:solidFill>
                  <a:srgbClr val="0F172A"/>
                </a:solidFill>
              </a:defRPr>
            </a:pPr>
            <a:r>
              <a:t>21-01-2027   |   M.Sc. Seminar Submission</a:t>
            </a:r>
          </a:p>
          <a:p>
            <a:pPr>
              <a:defRPr sz="1600">
                <a:solidFill>
                  <a:srgbClr val="334155"/>
                </a:solidFill>
              </a:defRPr>
            </a:pPr>
            <a:r>
              <a:t>Final paper submission.</a:t>
            </a:r>
          </a:p>
        </p:txBody>
      </p:sp>
      <p:sp>
        <p:nvSpPr>
          <p:cNvPr id="7" name="Rectangle 6"/>
          <p:cNvSpPr/>
          <p:nvPr/>
        </p:nvSpPr>
        <p:spPr>
          <a:xfrm>
            <a:off x="731520" y="4046220"/>
            <a:ext cx="10728655" cy="217170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4046220"/>
            <a:ext cx="109728" cy="21717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155948"/>
            <a:ext cx="10271455" cy="1952244"/>
          </a:xfrm>
          <a:prstGeom prst="rect">
            <a:avLst/>
          </a:prstGeom>
          <a:noFill/>
        </p:spPr>
        <p:txBody>
          <a:bodyPr wrap="square">
            <a:spAutoFit/>
          </a:bodyPr>
          <a:lstStyle/>
          <a:p>
            <a:pPr>
              <a:spcAft>
                <a:spcPts val="400"/>
              </a:spcAft>
              <a:defRPr b="1" sz="2000">
                <a:solidFill>
                  <a:srgbClr val="0F172A"/>
                </a:solidFill>
              </a:defRPr>
            </a:pPr>
            <a:r>
              <a:t>27-01-2027   |   Presentation (tentative)</a:t>
            </a:r>
          </a:p>
          <a:p>
            <a:pPr>
              <a:defRPr sz="1600">
                <a:solidFill>
                  <a:srgbClr val="334155"/>
                </a:solidFill>
              </a:defRPr>
            </a:pPr>
            <a:r>
              <a:t>Presentation of your master seminar paper</a:t>
            </a:r>
          </a:p>
        </p:txBody>
      </p:sp>
    </p:spTree>
  </p:cSld>
  <p:clrMapOvr>
    <a:masterClrMapping/>
  </p:clrMapOvr>
</p:sld>
</file>

<file path=ppt/theme/theme1.xml><?xml version="1.0" encoding="utf-8"?>
<a:theme xmlns:a="http://schemas.openxmlformats.org/drawingml/2006/main" name="Würzburg Theme">
  <a:themeElements>
    <a:clrScheme name="Custom 1">
      <a:dk1>
        <a:sysClr val="windowText" lastClr="000000"/>
      </a:dk1>
      <a:lt1>
        <a:sysClr val="window" lastClr="FFFFFF"/>
      </a:lt1>
      <a:dk2>
        <a:srgbClr val="44546A"/>
      </a:dk2>
      <a:lt2>
        <a:srgbClr val="E7E6E6"/>
      </a:lt2>
      <a:accent1>
        <a:srgbClr val="A5A5A5"/>
      </a:accent1>
      <a:accent2>
        <a:srgbClr val="0052A0"/>
      </a:accent2>
      <a:accent3>
        <a:srgbClr val="5B9BD5"/>
      </a:accent3>
      <a:accent4>
        <a:srgbClr val="FFC000"/>
      </a:accent4>
      <a:accent5>
        <a:srgbClr val="ED7D31"/>
      </a:accent5>
      <a:accent6>
        <a:srgbClr val="70AD47"/>
      </a:accent6>
      <a:hlink>
        <a:srgbClr val="0563C1"/>
      </a:hlink>
      <a:folHlink>
        <a:srgbClr val="954F72"/>
      </a:folHlink>
    </a:clrScheme>
    <a:fontScheme name="Font_Theme">
      <a:majorFont>
        <a:latin typeface="MetaBold Roman"/>
        <a:ea typeface=""/>
        <a:cs typeface=""/>
      </a:majorFont>
      <a:minorFont>
        <a:latin typeface="MetaNormal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defRPr dirty="0" smtClean="0">
            <a:solidFill>
              <a:schemeClr val="bg2">
                <a:lumMod val="50000"/>
              </a:schemeClr>
            </a:solidFill>
          </a:defRPr>
        </a:defPPr>
      </a:lstStyle>
    </a:txDef>
  </a:objectDefaults>
  <a:extraClrSchemeLst/>
  <a:extLst>
    <a:ext uri="{05A4C25C-085E-4340-85A3-A5531E510DB2}">
      <thm15:themeFamily xmlns:thm15="http://schemas.microsoft.com/office/thememl/2012/main" name="Presentation1.potm" id="{C22549A3-4E93-4260-8A1F-8112ED4F534C}" vid="{E28A70FD-40FC-4F92-959A-397F0044B5B8}"/>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2bf1f106-d85f-437b-8732-ab5a89fe4b6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EDC04E7073E08B4494D337A40FF7A8CF" ma:contentTypeVersion="9" ma:contentTypeDescription="Ein neues Dokument erstellen." ma:contentTypeScope="" ma:versionID="9116366a7707231f6829699883d8a2ec">
  <xsd:schema xmlns:xsd="http://www.w3.org/2001/XMLSchema" xmlns:xs="http://www.w3.org/2001/XMLSchema" xmlns:p="http://schemas.microsoft.com/office/2006/metadata/properties" xmlns:ns3="2bf1f106-d85f-437b-8732-ab5a89fe4b62" targetNamespace="http://schemas.microsoft.com/office/2006/metadata/properties" ma:root="true" ma:fieldsID="2a096b10c6aebdb7fc28f6d0e131e6d5" ns3:_="">
    <xsd:import namespace="2bf1f106-d85f-437b-8732-ab5a89fe4b62"/>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bf1f106-d85f-437b-8732-ab5a89fe4b6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580C073-3D41-45CF-8462-BF6FE1E440C8}">
  <ds:schemaRefs>
    <ds:schemaRef ds:uri="http://schemas.microsoft.com/sharepoint/v3/contenttype/forms"/>
  </ds:schemaRefs>
</ds:datastoreItem>
</file>

<file path=customXml/itemProps2.xml><?xml version="1.0" encoding="utf-8"?>
<ds:datastoreItem xmlns:ds="http://schemas.openxmlformats.org/officeDocument/2006/customXml" ds:itemID="{E6663803-F48E-4F10-A811-CB97D9277B35}">
  <ds:schemaRefs>
    <ds:schemaRef ds:uri="http://schemas.microsoft.com/office/2006/metadata/properties"/>
    <ds:schemaRef ds:uri="http://www.w3.org/XML/1998/namespace"/>
    <ds:schemaRef ds:uri="http://schemas.openxmlformats.org/package/2006/metadata/core-properties"/>
    <ds:schemaRef ds:uri="http://purl.org/dc/elements/1.1/"/>
    <ds:schemaRef ds:uri="http://schemas.microsoft.com/office/2006/documentManagement/types"/>
    <ds:schemaRef ds:uri="http://purl.org/dc/dcmitype/"/>
    <ds:schemaRef ds:uri="http://schemas.microsoft.com/office/infopath/2007/PartnerControls"/>
    <ds:schemaRef ds:uri="2bf1f106-d85f-437b-8732-ab5a89fe4b62"/>
    <ds:schemaRef ds:uri="http://purl.org/dc/terms/"/>
  </ds:schemaRefs>
</ds:datastoreItem>
</file>

<file path=customXml/itemProps3.xml><?xml version="1.0" encoding="utf-8"?>
<ds:datastoreItem xmlns:ds="http://schemas.openxmlformats.org/officeDocument/2006/customXml" ds:itemID="{261EA971-2054-4B5E-AA32-B416F7BA1C3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bf1f106-d85f-437b-8732-ab5a89fe4b6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Wü_Slider</Template>
  <TotalTime>0</TotalTime>
  <Words>0</Words>
  <Application>Microsoft Office PowerPoint</Application>
  <PresentationFormat>Breitbild</PresentationFormat>
  <Paragraphs>0</Paragraphs>
  <Slides>0</Slides>
  <Notes>0</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0</vt:i4>
      </vt:variant>
    </vt:vector>
  </HeadingPairs>
  <TitlesOfParts>
    <vt:vector size="6" baseType="lpstr">
      <vt:lpstr>Aptos</vt:lpstr>
      <vt:lpstr>Arial</vt:lpstr>
      <vt:lpstr>MetaBold Roman</vt:lpstr>
      <vt:lpstr>MetaNormal Roman</vt:lpstr>
      <vt:lpstr>MetaNormal Roman </vt:lpstr>
      <vt:lpstr>Würzburg Theme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Alessia Bogoni</dc:creator>
  <cp:lastModifiedBy>Alessia Bogoni</cp:lastModifiedBy>
  <cp:revision>2</cp:revision>
  <dcterms:created xsi:type="dcterms:W3CDTF">2026-10-06T15:47:27Z</dcterms:created>
  <dcterms:modified xsi:type="dcterms:W3CDTF">2026-10-06T15:50:08Z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0x010100EDC04E7073E08B4494D337A40FF7A8CF</vt:lpwstr>
  </property>
</Properties>
</file>